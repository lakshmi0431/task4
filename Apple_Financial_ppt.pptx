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75E5F10-E857-4868-AFCA-E3008BB27D5F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034" y="685800"/>
            <a:ext cx="7998916" cy="2971801"/>
          </a:xfrm>
        </p:spPr>
        <p:txBody>
          <a:bodyPr anchor="b">
            <a:normAutofit/>
          </a:bodyPr>
          <a:lstStyle>
            <a:lvl1pPr algn="l">
              <a:defRPr sz="4799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034" y="3843868"/>
            <a:ext cx="6399133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0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5869" y="8467"/>
            <a:ext cx="3809008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6580" y="91546"/>
            <a:ext cx="6079071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3941" y="228600"/>
            <a:ext cx="495171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3927" y="32279"/>
            <a:ext cx="4851725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3383" y="609602"/>
            <a:ext cx="4342268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19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4" y="2006600"/>
            <a:ext cx="8532178" cy="2281600"/>
          </a:xfrm>
        </p:spPr>
        <p:txBody>
          <a:bodyPr anchor="b">
            <a:normAutofit/>
          </a:bodyPr>
          <a:lstStyle>
            <a:lvl1pPr algn="l">
              <a:defRPr sz="3599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5" y="4495800"/>
            <a:ext cx="8532178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4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33" y="685801"/>
            <a:ext cx="4936369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6621" y="685801"/>
            <a:ext cx="4933194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7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827" y="685800"/>
            <a:ext cx="4648576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33" y="1270529"/>
            <a:ext cx="4936369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7483" y="685800"/>
            <a:ext cx="4663919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5033" y="1262062"/>
            <a:ext cx="4927904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6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0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3167" y="685800"/>
            <a:ext cx="3656648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034" y="685800"/>
            <a:ext cx="5942053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3167" y="2209800"/>
            <a:ext cx="3656648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66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1582" y="1447800"/>
            <a:ext cx="6018232" cy="11430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8754" y="914400"/>
            <a:ext cx="3280120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1582" y="2777067"/>
            <a:ext cx="6019820" cy="2048933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4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621" y="533400"/>
            <a:ext cx="10815995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164" y="3843867"/>
            <a:ext cx="8302047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85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5" y="685800"/>
            <a:ext cx="10055781" cy="2743200"/>
          </a:xfrm>
        </p:spPr>
        <p:txBody>
          <a:bodyPr anchor="ctr">
            <a:normAutofit/>
          </a:bodyPr>
          <a:lstStyle>
            <a:lvl1pPr algn="l">
              <a:defRPr sz="3199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114800"/>
            <a:ext cx="8533765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40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685800"/>
            <a:ext cx="9141620" cy="2743200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5835" y="3429000"/>
            <a:ext cx="8532178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5" y="4301068"/>
            <a:ext cx="8532178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674" y="81222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2734" y="276860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3484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4" y="3429000"/>
            <a:ext cx="8532178" cy="1697400"/>
          </a:xfrm>
        </p:spPr>
        <p:txBody>
          <a:bodyPr anchor="b">
            <a:normAutofit/>
          </a:bodyPr>
          <a:lstStyle>
            <a:lvl1pPr algn="l">
              <a:defRPr sz="3199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3" y="5132981"/>
            <a:ext cx="8533767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11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685800"/>
            <a:ext cx="9141619" cy="2743200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035" y="3928534"/>
            <a:ext cx="8532178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978400"/>
            <a:ext cx="8532178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674" y="81222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2734" y="276860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2281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5" y="685800"/>
            <a:ext cx="10055781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034" y="3928534"/>
            <a:ext cx="853217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766733"/>
            <a:ext cx="8532178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41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8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2950" y="685800"/>
            <a:ext cx="2056864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621" y="685800"/>
            <a:ext cx="7821163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65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4572" y="2963334"/>
            <a:ext cx="2981081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034" y="4487333"/>
            <a:ext cx="8532178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685801"/>
            <a:ext cx="8532178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1833" y="6172201"/>
            <a:ext cx="15997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034" y="6172201"/>
            <a:ext cx="7541835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0502" y="5578476"/>
            <a:ext cx="1141948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199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120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  <p:sldLayoutId id="2147483921" r:id="rId14"/>
    <p:sldLayoutId id="2147483922" r:id="rId15"/>
    <p:sldLayoutId id="2147483923" r:id="rId16"/>
    <p:sldLayoutId id="2147483924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9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79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02705"/>
            <a:ext cx="70839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chemeClr val="bg1"/>
                </a:solidFill>
              </a:rPr>
              <a:t>Apple </a:t>
            </a:r>
            <a:r>
              <a:rPr dirty="0" smtClean="0">
                <a:solidFill>
                  <a:schemeClr val="bg1"/>
                </a:solidFill>
              </a:rPr>
              <a:t>Financial </a:t>
            </a:r>
            <a:r>
              <a:rPr dirty="0">
                <a:solidFill>
                  <a:schemeClr val="bg1"/>
                </a:solidFill>
              </a:rPr>
              <a:t>Dashboard (2009–2024)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1" y="1209965"/>
            <a:ext cx="10460182" cy="1126836"/>
          </a:xfrm>
        </p:spPr>
        <p:txBody>
          <a:bodyPr>
            <a:normAutofit fontScale="90000"/>
          </a:bodyPr>
          <a:lstStyle/>
          <a:p>
            <a:r>
              <a:rPr lang="en-US" sz="2200" b="1" dirty="0"/>
              <a:t>Interactive Business Intelligence </a:t>
            </a:r>
            <a:r>
              <a:rPr lang="en-US" sz="2200" b="1" dirty="0" smtClean="0"/>
              <a:t>Dashboard using </a:t>
            </a:r>
            <a:r>
              <a:rPr lang="en-US" sz="2200" b="1" dirty="0"/>
              <a:t>Microsoft Power BI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10" name="Subtitle 9"/>
          <p:cNvSpPr>
            <a:spLocks noGrp="1"/>
          </p:cNvSpPr>
          <p:nvPr>
            <p:ph type="body" idx="1"/>
          </p:nvPr>
        </p:nvSpPr>
        <p:spPr>
          <a:xfrm>
            <a:off x="684033" y="2142836"/>
            <a:ext cx="8533767" cy="385054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 </a:t>
            </a:r>
            <a:r>
              <a:rPr lang="en-US" dirty="0" smtClean="0">
                <a:solidFill>
                  <a:schemeClr val="tx1"/>
                </a:solidFill>
              </a:rPr>
              <a:t>Overview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Financial Performance Analysis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KPI Monitoring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Interactive Visualizations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Business Decision Support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Tools: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Power BI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Power Query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DAX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• CSV Dataset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College / Organization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Submission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5000">
              <a:schemeClr val="bg2">
                <a:lumMod val="75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9741593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• Analyze Apple's financial performance.</a:t>
            </a:r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r>
              <a:rPr dirty="0" smtClean="0"/>
              <a:t>• </a:t>
            </a:r>
            <a:r>
              <a:rPr dirty="0"/>
              <a:t>Track KPIs such as </a:t>
            </a:r>
            <a:r>
              <a:rPr dirty="0" smtClean="0"/>
              <a:t>Revenue, Net </a:t>
            </a:r>
            <a:r>
              <a:rPr dirty="0"/>
              <a:t>Income, EBITDA, Assets, </a:t>
            </a:r>
            <a:r>
              <a:rPr lang="en-US" dirty="0"/>
              <a:t>Liabilities </a:t>
            </a:r>
            <a:r>
              <a:rPr dirty="0" smtClean="0"/>
              <a:t>and </a:t>
            </a:r>
            <a:r>
              <a:rPr dirty="0"/>
              <a:t>Employees</a:t>
            </a:r>
            <a:r>
              <a:rPr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>
              <a:defRPr sz="2000"/>
            </a:pPr>
            <a:r>
              <a:rPr lang="en-US" dirty="0" smtClean="0"/>
              <a:t>• Identify </a:t>
            </a:r>
            <a:r>
              <a:rPr lang="en-US" dirty="0"/>
              <a:t>year-over-year growth and long-term financial trends using </a:t>
            </a:r>
            <a:r>
              <a:rPr lang="en-US" dirty="0" smtClean="0"/>
              <a:t>time-          series </a:t>
            </a:r>
            <a:r>
              <a:rPr lang="en-US" dirty="0"/>
              <a:t>analysis</a:t>
            </a:r>
            <a:r>
              <a:rPr lang="en-US" dirty="0" smtClean="0"/>
              <a:t>.</a:t>
            </a:r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r>
              <a:rPr lang="en-US" dirty="0" smtClean="0"/>
              <a:t>• Compare </a:t>
            </a:r>
            <a:r>
              <a:rPr lang="en-US" dirty="0"/>
              <a:t>financial metrics to understand Apple's profitability and business performance</a:t>
            </a:r>
            <a:r>
              <a:rPr lang="en-US" dirty="0" smtClean="0"/>
              <a:t>.</a:t>
            </a:r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r>
              <a:rPr lang="en-US" dirty="0" smtClean="0"/>
              <a:t>• Build </a:t>
            </a:r>
            <a:r>
              <a:rPr lang="en-US" dirty="0"/>
              <a:t>an interactive Power BI dashboard with KPI cards, charts, and slicers for easy </a:t>
            </a:r>
            <a:r>
              <a:rPr lang="en-US" dirty="0" smtClean="0"/>
              <a:t>analysis</a:t>
            </a:r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r>
              <a:rPr lang="en-US" dirty="0" smtClean="0"/>
              <a:t>• Enable </a:t>
            </a:r>
            <a:r>
              <a:rPr lang="en-US" dirty="0"/>
              <a:t>business stakeholders to make informed, data-driven decisions through visual insights.</a:t>
            </a:r>
            <a:endParaRPr lang="en-US" dirty="0" smtClean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5000">
              <a:schemeClr val="bg2">
                <a:lumMod val="75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9116598" cy="4678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Source: Apple Financial Data (2009–2024)</a:t>
            </a:r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r>
              <a:rPr dirty="0" smtClean="0"/>
              <a:t>• </a:t>
            </a:r>
            <a:r>
              <a:rPr dirty="0"/>
              <a:t>16 columns with yearly financial metrics</a:t>
            </a:r>
            <a:r>
              <a:rPr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• </a:t>
            </a:r>
            <a:r>
              <a:rPr lang="en-US" sz="2000" dirty="0" smtClean="0"/>
              <a:t>Analyze </a:t>
            </a:r>
            <a:r>
              <a:rPr lang="en-US" sz="2000" dirty="0"/>
              <a:t>Apple's financial performance and business growth over time.</a:t>
            </a:r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r>
              <a:rPr lang="en-US" dirty="0" smtClean="0"/>
              <a:t>• Imported </a:t>
            </a:r>
            <a:r>
              <a:rPr lang="en-US" dirty="0"/>
              <a:t>the CSV file into Power BI.</a:t>
            </a:r>
            <a:endParaRPr lang="en-US" dirty="0" smtClean="0"/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r>
              <a:rPr lang="en-US" dirty="0" smtClean="0"/>
              <a:t>• Cleaned </a:t>
            </a:r>
            <a:r>
              <a:rPr lang="en-US" dirty="0"/>
              <a:t>the data using </a:t>
            </a:r>
            <a:r>
              <a:rPr lang="en-US" b="1" dirty="0"/>
              <a:t>Power Query</a:t>
            </a:r>
            <a:r>
              <a:rPr lang="en-US" dirty="0"/>
              <a:t>.</a:t>
            </a:r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r>
              <a:rPr lang="en-US" dirty="0" smtClean="0"/>
              <a:t>• Removed </a:t>
            </a:r>
            <a:r>
              <a:rPr lang="en-US" dirty="0"/>
              <a:t>symbols such as </a:t>
            </a:r>
            <a:r>
              <a:rPr lang="en-US" b="1" dirty="0"/>
              <a:t>$, commas (,), and %</a:t>
            </a:r>
            <a:r>
              <a:rPr lang="en-US" dirty="0"/>
              <a:t>.</a:t>
            </a:r>
            <a:endParaRPr lang="en-US" dirty="0" smtClean="0"/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r>
              <a:rPr lang="en-US" dirty="0" smtClean="0"/>
              <a:t>• Converted </a:t>
            </a:r>
            <a:r>
              <a:rPr lang="en-US" dirty="0"/>
              <a:t>columns to appropriate numeric data types.</a:t>
            </a:r>
            <a:endParaRPr lang="en-US" dirty="0" smtClean="0"/>
          </a:p>
          <a:p>
            <a:pPr>
              <a:defRPr sz="2000"/>
            </a:pPr>
            <a:endParaRPr lang="en-US" dirty="0" smtClean="0"/>
          </a:p>
          <a:p>
            <a:pPr>
              <a:defRPr sz="2000"/>
            </a:pPr>
            <a:r>
              <a:rPr lang="en-US" dirty="0" smtClean="0"/>
              <a:t>• Validated </a:t>
            </a:r>
            <a:r>
              <a:rPr lang="en-US" dirty="0"/>
              <a:t>data for accurate analysis and visualization.</a:t>
            </a:r>
            <a:endParaRPr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</a:t>
            </a:r>
          </a:p>
        </p:txBody>
      </p:sp>
      <p:pic>
        <p:nvPicPr>
          <p:cNvPr id="3" name="Picture 2" descr="image(16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046720" cy="45229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914400"/>
            <a:ext cx="2743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KPI Cards</a:t>
            </a:r>
          </a:p>
          <a:p>
            <a:pPr>
              <a:defRPr sz="2000"/>
            </a:pPr>
            <a:r>
              <a:t>• Revenue Trend</a:t>
            </a:r>
          </a:p>
          <a:p>
            <a:pPr>
              <a:defRPr sz="2000"/>
            </a:pPr>
            <a:r>
              <a:t>• Profit Trend</a:t>
            </a:r>
          </a:p>
          <a:p>
            <a:pPr>
              <a:defRPr sz="2000"/>
            </a:pPr>
            <a:r>
              <a:t>• Assets vs Liabilities</a:t>
            </a:r>
          </a:p>
          <a:p>
            <a:pPr>
              <a:defRPr sz="2000"/>
            </a:pPr>
            <a:r>
              <a:t>• Cash vs Debt</a:t>
            </a:r>
          </a:p>
          <a:p>
            <a:pPr>
              <a:defRPr sz="2000"/>
            </a:pPr>
            <a:r>
              <a:t>• Employee Growth</a:t>
            </a:r>
          </a:p>
          <a:p>
            <a:pPr>
              <a:defRPr sz="2000"/>
            </a:pPr>
            <a:r>
              <a:t>• Year Slicer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Revenue and profits increased over time.</a:t>
            </a:r>
          </a:p>
          <a:p>
            <a:pPr>
              <a:defRPr sz="2000"/>
            </a:pPr>
            <a:r>
              <a:t>• Gross margins remained healthy.</a:t>
            </a:r>
          </a:p>
          <a:p>
            <a:pPr>
              <a:defRPr sz="2000"/>
            </a:pPr>
            <a:r>
              <a:t>• Assets grew significantly.</a:t>
            </a:r>
          </a:p>
          <a:p>
            <a:pPr>
              <a:defRPr sz="2000"/>
            </a:pPr>
            <a:r>
              <a:t>• Employee count expanded.</a:t>
            </a:r>
          </a:p>
          <a:p>
            <a:pPr>
              <a:defRPr sz="2000"/>
            </a:pPr>
            <a:r>
              <a:t>• Strong overall financial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1389656" cy="3170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Power BI transformed raw financial data into an interactive dashboard that helps business </a:t>
            </a:r>
            <a:endParaRPr lang="en-US" dirty="0" smtClean="0"/>
          </a:p>
          <a:p>
            <a:pPr>
              <a:defRPr sz="2000"/>
            </a:pPr>
            <a:r>
              <a:rPr dirty="0" smtClean="0"/>
              <a:t>stakeholders </a:t>
            </a:r>
            <a:r>
              <a:rPr dirty="0"/>
              <a:t>monitor performance, identify trends, and support informed decision-making.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Assignment Checklist:</a:t>
            </a:r>
          </a:p>
          <a:p>
            <a:pPr>
              <a:defRPr sz="2000"/>
            </a:pPr>
            <a:r>
              <a:rPr dirty="0"/>
              <a:t>✔ KPI Cards</a:t>
            </a:r>
          </a:p>
          <a:p>
            <a:pPr>
              <a:defRPr sz="2000"/>
            </a:pPr>
            <a:r>
              <a:rPr dirty="0"/>
              <a:t>✔ Slicers / Filters</a:t>
            </a:r>
          </a:p>
          <a:p>
            <a:pPr>
              <a:defRPr sz="2000"/>
            </a:pPr>
            <a:r>
              <a:rPr dirty="0"/>
              <a:t>✔ Time-Series Analysis</a:t>
            </a:r>
          </a:p>
          <a:p>
            <a:pPr>
              <a:defRPr sz="2000"/>
            </a:pPr>
            <a:r>
              <a:rPr dirty="0"/>
              <a:t>✔ Summary Cards</a:t>
            </a:r>
          </a:p>
          <a:p>
            <a:pPr>
              <a:defRPr sz="2000"/>
            </a:pPr>
            <a:r>
              <a:rPr dirty="0"/>
              <a:t>✔ Consistent Color Theme</a:t>
            </a:r>
          </a:p>
          <a:p>
            <a:pPr>
              <a:defRPr sz="2000"/>
            </a:pPr>
            <a:r>
              <a:rPr dirty="0"/>
              <a:t>✔ Navigation (Optional)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38</TotalTime>
  <Words>327</Words>
  <Application>Microsoft Office PowerPoint</Application>
  <PresentationFormat>Custom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Slice</vt:lpstr>
      <vt:lpstr>Interactive Business Intelligence Dashboard using Microsoft Power BI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bachu yuvateja</dc:creator>
  <cp:keywords/>
  <dc:description>generated using python-pptx</dc:description>
  <cp:lastModifiedBy>bachu yuvateja</cp:lastModifiedBy>
  <cp:revision>5</cp:revision>
  <dcterms:created xsi:type="dcterms:W3CDTF">2013-01-27T09:14:16Z</dcterms:created>
  <dcterms:modified xsi:type="dcterms:W3CDTF">2026-07-05T10:54:39Z</dcterms:modified>
  <cp:category/>
</cp:coreProperties>
</file>